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1" r:id="rId2"/>
    <p:sldId id="256" r:id="rId3"/>
    <p:sldId id="274" r:id="rId4"/>
    <p:sldId id="275" r:id="rId5"/>
    <p:sldId id="276" r:id="rId6"/>
    <p:sldId id="278" r:id="rId7"/>
    <p:sldId id="281" r:id="rId8"/>
    <p:sldId id="282" r:id="rId9"/>
    <p:sldId id="283" r:id="rId10"/>
    <p:sldId id="280" r:id="rId11"/>
    <p:sldId id="277" r:id="rId12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820" y="5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75F26D-3594-119D-8D0D-AC72B60B55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A3D7FF-7057-2B23-9DAF-8C411756403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16CA8EE-82F3-46BE-9905-9DA50A233A6F}" type="datetimeFigureOut">
              <a:rPr lang="en-US"/>
              <a:pPr>
                <a:defRPr/>
              </a:pPr>
              <a:t>12/2/2025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1AD8292-459C-23CF-22D9-7DE052A2BE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889A807-9ACE-12FF-8DDB-502CD9DEB2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9A1A10-A62C-AFC1-0532-970455AECCB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5DF6D-7F08-0B7D-FC7B-81EF6F11C9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96AD485B-F8CF-43B2-90A3-8199B71A05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Google Shape;181;g35f391192_00:notes">
            <a:extLst>
              <a:ext uri="{FF2B5EF4-FFF2-40B4-BE49-F238E27FC236}">
                <a16:creationId xmlns:a16="http://schemas.microsoft.com/office/drawing/2014/main" id="{7D5BDC86-C19B-5EE3-5BFB-91832CD2315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custGeom>
            <a:avLst/>
            <a:gdLst>
              <a:gd name="T0" fmla="*/ 0 w 120000"/>
              <a:gd name="T1" fmla="*/ 0 h 120000"/>
              <a:gd name="T2" fmla="*/ 120000 w 120000"/>
              <a:gd name="T3" fmla="*/ 0 h 120000"/>
              <a:gd name="T4" fmla="*/ 120000 w 120000"/>
              <a:gd name="T5" fmla="*/ 120000 h 120000"/>
              <a:gd name="T6" fmla="*/ 0 w 120000"/>
              <a:gd name="T7" fmla="*/ 120000 h 120000"/>
              <a:gd name="T8" fmla="*/ 0 w 120000"/>
              <a:gd name="T9" fmla="*/ 0 h 120000"/>
              <a:gd name="T10" fmla="*/ 0 w 120000"/>
              <a:gd name="T11" fmla="*/ 0 h 120000"/>
              <a:gd name="T12" fmla="*/ 120000 w 120000"/>
              <a:gd name="T13" fmla="*/ 120000 h 1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T10" t="T11" r="T12" b="T1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Google Shape;182;g35f391192_00:notes">
            <a:extLst>
              <a:ext uri="{FF2B5EF4-FFF2-40B4-BE49-F238E27FC236}">
                <a16:creationId xmlns:a16="http://schemas.microsoft.com/office/drawing/2014/main" id="{0D21F938-7BCB-98A7-4EBB-BC01440C91D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7" tIns="91417" rIns="91417" bIns="91417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22EDC-D38F-3C3C-A184-7DCC9A5FC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7EDBAD-2CFF-480C-A97B-E113603A5C7D}" type="datetimeFigureOut">
              <a:rPr lang="en-US"/>
              <a:pPr>
                <a:defRPr/>
              </a:pPr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2B2F0-A485-5303-97B8-57015772D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755DB-203D-D5BA-58DC-DF5416695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8C0374-B440-4C96-86FE-390DFEE677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5660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52C6E-98E5-7A8C-3F9E-9AF62409A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17A118-65AA-42E6-9E85-B291ED51DF41}" type="datetimeFigureOut">
              <a:rPr lang="en-US"/>
              <a:pPr>
                <a:defRPr/>
              </a:pPr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27905-F056-F55B-098B-FC12BBA41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8353E-743B-F256-BF6A-BEE35B283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D43D13-FAE6-438C-B2D6-6ED67D70996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5693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00AEF-4532-D4AB-6941-D17834BAD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7E9998-B85A-49A5-A2C5-64B8B7E9FA67}" type="datetimeFigureOut">
              <a:rPr lang="en-US"/>
              <a:pPr>
                <a:defRPr/>
              </a:pPr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91389-3894-4FB7-74EE-ED0D87EFF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197FF-59C2-1A7D-0DC8-9A18006C5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22606-51DC-4489-9E2C-8BC598495A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5569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087FA39-E974-B6BC-35FC-A32A7BED7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08E9F9-5B91-4EEC-B60C-69ED65BE4FE7}" type="datetimeFigureOut">
              <a:rPr lang="en-US"/>
              <a:pPr>
                <a:defRPr/>
              </a:pPr>
              <a:t>12/2/2025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7F53CF9-C612-8336-B3AD-8EA13A331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94A9DC-0A5B-249A-133C-966F52149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22BB8C-C357-479B-9B37-94F6C92741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3585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1F676FD-7358-31F9-2169-482B601B6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C5AB39-C8C5-4ACE-83CB-92AC446635AB}" type="datetimeFigureOut">
              <a:rPr lang="en-US"/>
              <a:pPr>
                <a:defRPr/>
              </a:pPr>
              <a:t>12/2/2025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08E449E-9630-38A2-074F-4456B11B3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19E5200-E2F4-D4D5-DF31-C6E6A2E14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CC71DF-5D38-4312-8317-64CDA68E75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7578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C9CF9C6-2532-2629-890A-F27450DB1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6FD488-6EE7-4046-BEA9-AD9610723123}" type="datetimeFigureOut">
              <a:rPr lang="en-US"/>
              <a:pPr>
                <a:defRPr/>
              </a:pPr>
              <a:t>12/2/2025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7F0868C-63B2-8A7B-E5FB-63AC23D98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ADD891D-CC14-6239-2FB5-174044E1F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F25D5D-539D-4C02-8269-B4573F2EB6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6937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2CA04D1-2108-7A0F-DE06-C46491633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F4629F-79E6-4F37-A0D8-A27A170F4357}" type="datetimeFigureOut">
              <a:rPr lang="en-US"/>
              <a:pPr>
                <a:defRPr/>
              </a:pPr>
              <a:t>12/2/2025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9F5957B-18F3-D139-CA74-EB01E34FB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342E741-517B-4B9A-9B57-57E083DB0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CA7AD7-FA05-4400-B586-3855B0C63F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3266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08863A2-5945-3C90-7991-90A387989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5E5994-9D0B-44FE-A1D0-FF6264788233}" type="datetimeFigureOut">
              <a:rPr lang="en-US"/>
              <a:pPr>
                <a:defRPr/>
              </a:pPr>
              <a:t>12/2/2025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1534E34-B0B1-7A5B-CAA2-74A1818B5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9133B8E-C1C8-1954-FD41-F741F7A69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0EDF82-CE86-4512-A889-812AB46D42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6177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F4F546E-B28F-2E57-DE01-F4736F628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06012-B705-4E43-A1DC-3588403FBAC9}" type="datetimeFigureOut">
              <a:rPr lang="en-US"/>
              <a:pPr>
                <a:defRPr/>
              </a:pPr>
              <a:t>12/2/2025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A70932D-2590-54A7-1A24-2A150B568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B6FB196-0089-7C12-E4BD-99D1599D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991EF2-8EC0-4D74-9C3B-AB666956E72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6459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51BA4-193B-3BC4-1E32-7266B747F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7C7F6F-E0F1-4D42-80E3-0BC7C648B1CA}" type="datetimeFigureOut">
              <a:rPr lang="en-US"/>
              <a:pPr>
                <a:defRPr/>
              </a:pPr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401D3-FB1C-2A25-FA52-1C7EEADF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F2F1A-74D1-F871-8C99-0E2B4BA0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59E56F-1B31-4867-BBEB-41C182C551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8937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A190D-EFF0-7B58-6B9B-2EA9DF53E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9396EE-9E9C-420E-8497-3FEA6753BF3E}" type="datetimeFigureOut">
              <a:rPr lang="en-US"/>
              <a:pPr>
                <a:defRPr/>
              </a:pPr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AA7E8-6D44-830C-E936-FECBF749B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D6C27-85CF-28CD-42EA-00A3352E4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1A34E2-DC2C-48BD-9304-38A68B404F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03279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;p2">
            <a:extLst>
              <a:ext uri="{FF2B5EF4-FFF2-40B4-BE49-F238E27FC236}">
                <a16:creationId xmlns:a16="http://schemas.microsoft.com/office/drawing/2014/main" id="{E5AD4176-05A3-0683-0F38-78A709FB708D}"/>
              </a:ext>
            </a:extLst>
          </p:cNvPr>
          <p:cNvSpPr/>
          <p:nvPr/>
        </p:nvSpPr>
        <p:spPr>
          <a:xfrm>
            <a:off x="7543800" y="657225"/>
            <a:ext cx="1300163" cy="433388"/>
          </a:xfrm>
          <a:prstGeom prst="triangle">
            <a:avLst>
              <a:gd name="adj" fmla="val 32425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3" name="Google Shape;11;p2">
            <a:extLst>
              <a:ext uri="{FF2B5EF4-FFF2-40B4-BE49-F238E27FC236}">
                <a16:creationId xmlns:a16="http://schemas.microsoft.com/office/drawing/2014/main" id="{ECB9CAA8-F5D6-2B11-9163-A84952DFC6ED}"/>
              </a:ext>
            </a:extLst>
          </p:cNvPr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  <a:solidFill>
            <a:schemeClr val="accent1">
              <a:lumMod val="50000"/>
            </a:schemeClr>
          </a:solidFill>
        </p:grpSpPr>
        <p:sp>
          <p:nvSpPr>
            <p:cNvPr id="4" name="Google Shape;12;p2">
              <a:extLst>
                <a:ext uri="{FF2B5EF4-FFF2-40B4-BE49-F238E27FC236}">
                  <a16:creationId xmlns:a16="http://schemas.microsoft.com/office/drawing/2014/main" id="{1A666727-A26B-1A6B-8223-16713F46686E}"/>
                </a:ext>
              </a:extLst>
            </p:cNvPr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>
                <a:latin typeface="+mn-lt"/>
                <a:cs typeface="+mn-cs"/>
              </a:endParaRPr>
            </a:p>
          </p:txBody>
        </p:sp>
        <p:sp>
          <p:nvSpPr>
            <p:cNvPr id="5" name="Google Shape;13;p2">
              <a:extLst>
                <a:ext uri="{FF2B5EF4-FFF2-40B4-BE49-F238E27FC236}">
                  <a16:creationId xmlns:a16="http://schemas.microsoft.com/office/drawing/2014/main" id="{09B3F4DE-990A-B37A-EAB9-24AB904659C1}"/>
                </a:ext>
              </a:extLst>
            </p:cNvPr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6" name="Google Shape;14;p2">
            <a:extLst>
              <a:ext uri="{FF2B5EF4-FFF2-40B4-BE49-F238E27FC236}">
                <a16:creationId xmlns:a16="http://schemas.microsoft.com/office/drawing/2014/main" id="{27F8970A-8397-25D7-3AF7-8A395A0DF342}"/>
              </a:ext>
            </a:extLst>
          </p:cNvPr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  <a:solidFill>
            <a:srgbClr val="C7D3E6"/>
          </a:solidFill>
        </p:grpSpPr>
        <p:sp>
          <p:nvSpPr>
            <p:cNvPr id="7" name="Google Shape;15;p2">
              <a:extLst>
                <a:ext uri="{FF2B5EF4-FFF2-40B4-BE49-F238E27FC236}">
                  <a16:creationId xmlns:a16="http://schemas.microsoft.com/office/drawing/2014/main" id="{D719ADB7-A1FE-56AD-FFF2-996265C8FE90}"/>
                </a:ext>
              </a:extLst>
            </p:cNvPr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8" name="Google Shape;16;p2">
              <a:extLst>
                <a:ext uri="{FF2B5EF4-FFF2-40B4-BE49-F238E27FC236}">
                  <a16:creationId xmlns:a16="http://schemas.microsoft.com/office/drawing/2014/main" id="{E34DDF46-D47F-CD8A-49AA-3CE502A2F5AB}"/>
                </a:ext>
              </a:extLst>
            </p:cNvPr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9" name="Google Shape;17;p2">
            <a:extLst>
              <a:ext uri="{FF2B5EF4-FFF2-40B4-BE49-F238E27FC236}">
                <a16:creationId xmlns:a16="http://schemas.microsoft.com/office/drawing/2014/main" id="{CE4EC95E-133E-47F8-9015-54B14611C534}"/>
              </a:ext>
            </a:extLst>
          </p:cNvPr>
          <p:cNvGrpSpPr>
            <a:grpSpLocks/>
          </p:cNvGrpSpPr>
          <p:nvPr/>
        </p:nvGrpSpPr>
        <p:grpSpPr bwMode="auto">
          <a:xfrm>
            <a:off x="3687763" y="4278313"/>
            <a:ext cx="5480050" cy="433387"/>
            <a:chOff x="5582265" y="4646738"/>
            <a:chExt cx="5480829" cy="432996"/>
          </a:xfrm>
        </p:grpSpPr>
        <p:sp>
          <p:nvSpPr>
            <p:cNvPr id="10" name="Google Shape;18;p2">
              <a:extLst>
                <a:ext uri="{FF2B5EF4-FFF2-40B4-BE49-F238E27FC236}">
                  <a16:creationId xmlns:a16="http://schemas.microsoft.com/office/drawing/2014/main" id="{AC73FE09-921C-2AB2-4AF9-2AF520976F8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5582265" y="4948091"/>
              <a:ext cx="393756" cy="131643"/>
            </a:xfrm>
            <a:prstGeom prst="triangle">
              <a:avLst>
                <a:gd name="adj" fmla="val 32426"/>
              </a:avLst>
            </a:prstGeom>
            <a:solidFill>
              <a:srgbClr val="D26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91425" rIns="91425" bIns="91425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Calibri" panose="020F0502020204030204" pitchFamily="34" charset="0"/>
              </a:endParaRPr>
            </a:p>
          </p:txBody>
        </p:sp>
        <p:grpSp>
          <p:nvGrpSpPr>
            <p:cNvPr id="11" name="Google Shape;19;p2">
              <a:extLst>
                <a:ext uri="{FF2B5EF4-FFF2-40B4-BE49-F238E27FC236}">
                  <a16:creationId xmlns:a16="http://schemas.microsoft.com/office/drawing/2014/main" id="{E9D91932-F211-B730-6BC4-1D189D98FC4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585440" y="4646738"/>
              <a:ext cx="5477654" cy="304525"/>
              <a:chOff x="-24158754" y="330075"/>
              <a:chExt cx="30567268" cy="1699361"/>
            </a:xfrm>
          </p:grpSpPr>
          <p:sp>
            <p:nvSpPr>
              <p:cNvPr id="12" name="Google Shape;20;p2">
                <a:extLst>
                  <a:ext uri="{FF2B5EF4-FFF2-40B4-BE49-F238E27FC236}">
                    <a16:creationId xmlns:a16="http://schemas.microsoft.com/office/drawing/2014/main" id="{2B7AD44A-431B-3F55-D7B0-BDCE0BD11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4158754" y="330075"/>
                <a:ext cx="28910436" cy="1699361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25" tIns="91425" rIns="91425" bIns="91425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13" name="Google Shape;21;p2">
                <a:extLst>
                  <a:ext uri="{FF2B5EF4-FFF2-40B4-BE49-F238E27FC236}">
                    <a16:creationId xmlns:a16="http://schemas.microsoft.com/office/drawing/2014/main" id="{4A4B41F8-8CFA-7112-B317-B996D871A7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7379" y="330075"/>
                <a:ext cx="1701135" cy="1699361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25" tIns="91425" rIns="91425" bIns="91425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Calibri" panose="020F0502020204030204" pitchFamily="34" charset="0"/>
                </a:endParaRPr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lIns="91425" tIns="91425" rIns="91425" bIns="91425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30821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5B246E0C-7AC3-D8BB-E70C-1A4A14A331C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44284640-E622-9EA8-1D39-235033C995E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6DF7E-ACD2-A3A9-8DCC-01065ED28A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21BF2A3-1BC0-4939-A3BB-D8F4912924A2}" type="datetimeFigureOut">
              <a:rPr lang="en-US"/>
              <a:pPr>
                <a:defRPr/>
              </a:pPr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83AE1-7BAF-DF4C-22F5-30FD802C95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6CD57-B0D9-580C-ED2F-3967F7A1E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7D46CC93-E92B-45D3-A053-095E6E7B92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9588867-0173-6254-1F6B-230532C72B34}"/>
              </a:ext>
            </a:extLst>
          </p:cNvPr>
          <p:cNvSpPr/>
          <p:nvPr/>
        </p:nvSpPr>
        <p:spPr>
          <a:xfrm>
            <a:off x="5715000" y="4148138"/>
            <a:ext cx="2035175" cy="481012"/>
          </a:xfrm>
          <a:prstGeom prst="rect">
            <a:avLst/>
          </a:prstGeom>
        </p:spPr>
        <p:txBody>
          <a:bodyPr spcFirstLastPara="1" lIns="91425" tIns="91425" rIns="91425" bIns="91425"/>
          <a:lstStyle/>
          <a:p>
            <a:pPr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defRPr/>
            </a:pPr>
            <a:r>
              <a:rPr lang="en-US" sz="1750" dirty="0">
                <a:latin typeface="Roboto Condensed" panose="020B0604020202020204" charset="0"/>
                <a:ea typeface="Roboto Condensed" panose="020B0604020202020204" charset="0"/>
                <a:cs typeface="+mn-cs"/>
              </a:rPr>
              <a:t>www.nareshit.com</a:t>
            </a:r>
          </a:p>
        </p:txBody>
      </p:sp>
      <p:pic>
        <p:nvPicPr>
          <p:cNvPr id="4099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4362A6D8-5ACE-CB27-BEA2-C20AD50A16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935"/>
          <a:stretch>
            <a:fillRect/>
          </a:stretch>
        </p:blipFill>
        <p:spPr bwMode="auto">
          <a:xfrm>
            <a:off x="1295400" y="1962150"/>
            <a:ext cx="4724400" cy="118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0" name="TextBox 3">
            <a:extLst>
              <a:ext uri="{FF2B5EF4-FFF2-40B4-BE49-F238E27FC236}">
                <a16:creationId xmlns:a16="http://schemas.microsoft.com/office/drawing/2014/main" id="{F40EE813-194F-7B52-4011-6500CB1AD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209550"/>
            <a:ext cx="9067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solidFill>
                  <a:srgbClr val="FFFF00"/>
                </a:solidFill>
              </a:rPr>
              <a:t>Angular – 21  Demo  By  Mr. Sanjay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175D9A7-BFBA-BE83-E57D-631CE803BC90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FC69D7FD-96C5-3B1D-22E3-F1F8A3E3F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C47D42-DD65-B868-92CD-CA6E890F0061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CCBEDC-6D51-A7E0-7FD6-4DBF395B6A84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1B961B-042E-3644-BC61-5BB7E80CFF2F}"/>
              </a:ext>
            </a:extLst>
          </p:cNvPr>
          <p:cNvSpPr txBox="1"/>
          <p:nvPr/>
        </p:nvSpPr>
        <p:spPr>
          <a:xfrm>
            <a:off x="381000" y="209550"/>
            <a:ext cx="2209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Introduction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017517-28B3-773D-2C46-2D378B248D95}"/>
              </a:ext>
            </a:extLst>
          </p:cNvPr>
          <p:cNvSpPr txBox="1"/>
          <p:nvPr/>
        </p:nvSpPr>
        <p:spPr>
          <a:xfrm>
            <a:off x="609600" y="1123950"/>
            <a:ext cx="8077200" cy="235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I am </a:t>
            </a:r>
            <a:r>
              <a:rPr lang="en-IN" sz="2000" b="1" dirty="0"/>
              <a:t>Sanjay Kumar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10+ years of corporate experience as a MEAN/MERN developer.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7+ years of experience as a trainer.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4+ years With </a:t>
            </a:r>
            <a:r>
              <a:rPr lang="en-US" sz="2000" dirty="0" err="1"/>
              <a:t>NareshIT</a:t>
            </a:r>
            <a:r>
              <a:rPr lang="en-US" sz="2000" dirty="0"/>
              <a:t>.</a:t>
            </a:r>
            <a:endParaRPr lang="en-IN" sz="2000" dirty="0"/>
          </a:p>
          <a:p>
            <a:pPr marL="400050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2000" b="1" dirty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C32DD27C-D087-61EF-8567-AB1590001B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A18FF-D9C7-FA57-D1C8-67B37995F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99249E1-7CEA-9BBE-09CA-198153DBE528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54A8C9ED-961C-8BEB-BA0C-322712130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CD05A1-59F5-2238-7FCC-196EBB475790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8A2BEB-C81C-C919-DDC6-B4C0D63A571C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F0F9C6-D81E-C050-B940-28A503FEAC55}"/>
              </a:ext>
            </a:extLst>
          </p:cNvPr>
          <p:cNvSpPr txBox="1"/>
          <p:nvPr/>
        </p:nvSpPr>
        <p:spPr>
          <a:xfrm>
            <a:off x="381000" y="209550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Training Roadmap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BF05C3-0ABE-8DDC-6ED4-AE97353A142B}"/>
              </a:ext>
            </a:extLst>
          </p:cNvPr>
          <p:cNvSpPr txBox="1"/>
          <p:nvPr/>
        </p:nvSpPr>
        <p:spPr>
          <a:xfrm>
            <a:off x="838200" y="1123950"/>
            <a:ext cx="6934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Course Duration : 2 months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Class Time : </a:t>
            </a:r>
            <a:r>
              <a:rPr lang="en-US" sz="2000" dirty="0"/>
              <a:t>1 hour daily 07.30am to 08.45am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Working days: Monday to Saturday (Sunday-off)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JavaScript -  2  weeks  </a:t>
            </a:r>
          </a:p>
          <a:p>
            <a:pPr marL="0" indent="0">
              <a:buNone/>
            </a:pPr>
            <a:r>
              <a:rPr lang="en-US" sz="2000" dirty="0"/>
              <a:t>Angular -    5-6 weeks</a:t>
            </a:r>
            <a:endParaRPr lang="en-IN" sz="2000" dirty="0"/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62234203-645E-D90E-B6AC-F3A0D53503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7768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3D859-D304-94E5-D7C8-B4A42FAD9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AE8456D-9DA2-995D-450B-73F1BDBA09AD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83E1736B-121D-CEB7-78CC-43F6DC2950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A979E0-D79E-C27F-DE1F-3FEBD7271961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40D972-271C-8560-D7A6-79D89FFD44E2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6F78E7-D271-D061-B966-076C9F60BA0B}"/>
              </a:ext>
            </a:extLst>
          </p:cNvPr>
          <p:cNvSpPr txBox="1"/>
          <p:nvPr/>
        </p:nvSpPr>
        <p:spPr>
          <a:xfrm>
            <a:off x="381000" y="209550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JavaScript Content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251077-ECC1-A646-2AD1-49B55CC49870}"/>
              </a:ext>
            </a:extLst>
          </p:cNvPr>
          <p:cNvSpPr txBox="1"/>
          <p:nvPr/>
        </p:nvSpPr>
        <p:spPr>
          <a:xfrm>
            <a:off x="533400" y="1123950"/>
            <a:ext cx="7239000" cy="2554545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Variables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Functions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Arrow Function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Closure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String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Array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Objects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Event Loop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Module (import/export)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Promises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Async-await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ES6+ JavaScript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6B527D09-782B-82A2-23CE-D8EBC0AADB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6642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37DA3-5B69-36EA-65F4-0316FA7E6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6FD49D8-8E47-307B-37AA-01C77D0368B8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5B2329EF-4786-BDF9-F8CA-5A3505EBA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278360-FDEF-127B-7477-FC162D216930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8FC8A2-E360-3865-EC91-5BF23DDAA547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25557A-79FD-3B92-2B9B-B9FD17D2499C}"/>
              </a:ext>
            </a:extLst>
          </p:cNvPr>
          <p:cNvSpPr txBox="1"/>
          <p:nvPr/>
        </p:nvSpPr>
        <p:spPr>
          <a:xfrm>
            <a:off x="381000" y="209550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Angular Content</a:t>
            </a:r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E10D6DB1-5EB1-4932-4B63-3A9C779B0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FA6AA6-B64B-ED38-5869-B0F49065D199}"/>
              </a:ext>
            </a:extLst>
          </p:cNvPr>
          <p:cNvSpPr txBox="1"/>
          <p:nvPr/>
        </p:nvSpPr>
        <p:spPr>
          <a:xfrm>
            <a:off x="381000" y="971550"/>
            <a:ext cx="8458200" cy="3785652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Angular Installation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Angular CLI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Component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Data binding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View Encapsulation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Inbuilt Directives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Custom Directives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Pipes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Custom Pipes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Component Communication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 err="1"/>
              <a:t>LifeCycle</a:t>
            </a:r>
            <a:r>
              <a:rPr lang="en-IN" sz="1600" dirty="0"/>
              <a:t> Methods / Hooks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Services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Dependency Injection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 err="1"/>
              <a:t>HttpClient</a:t>
            </a:r>
            <a:r>
              <a:rPr lang="en-IN" sz="1600" dirty="0"/>
              <a:t> / AJAX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Interceptors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Observables (</a:t>
            </a:r>
            <a:r>
              <a:rPr lang="en-IN" sz="1600" dirty="0" err="1"/>
              <a:t>RxJs</a:t>
            </a:r>
            <a:r>
              <a:rPr lang="en-IN" sz="1600" dirty="0"/>
              <a:t>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Subject, </a:t>
            </a:r>
            <a:r>
              <a:rPr lang="en-IN" sz="1600" dirty="0" err="1"/>
              <a:t>BehaviourSubject</a:t>
            </a:r>
            <a:r>
              <a:rPr lang="en-IN" sz="1600" dirty="0"/>
              <a:t>, </a:t>
            </a:r>
            <a:r>
              <a:rPr lang="en-IN" sz="1600" dirty="0" err="1"/>
              <a:t>ReplaySubject</a:t>
            </a:r>
            <a:endParaRPr lang="en-IN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Form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Routing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Lazy Loading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Signals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 err="1"/>
              <a:t>NgRx</a:t>
            </a:r>
            <a:r>
              <a:rPr lang="en-IN" sz="1600" dirty="0"/>
              <a:t> (State management)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Build &amp; Deploy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Angular Material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Unit testing (Jasmine + Karma)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749150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7C913-EF2D-7FB0-785E-819EAFADE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DC9EC2F-CF0C-A54C-614D-36A03C5393F0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CD605CF9-CD91-B62A-6783-6874ED45B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C213CE-DDD7-D5CF-A287-538DB8F43675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AE7480-6AEE-C5F7-9735-A02401AFCBB5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550A27-85E2-A50F-95BC-CDB1D15BA96C}"/>
              </a:ext>
            </a:extLst>
          </p:cNvPr>
          <p:cNvSpPr txBox="1"/>
          <p:nvPr/>
        </p:nvSpPr>
        <p:spPr>
          <a:xfrm>
            <a:off x="381000" y="209550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Web Development</a:t>
            </a:r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3BEB1CAB-4545-E43D-C061-FD6C7E6874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reeform 10">
            <a:extLst>
              <a:ext uri="{FF2B5EF4-FFF2-40B4-BE49-F238E27FC236}">
                <a16:creationId xmlns:a16="http://schemas.microsoft.com/office/drawing/2014/main" id="{704E92EF-1075-5752-3FAD-D6D57426D22B}"/>
              </a:ext>
            </a:extLst>
          </p:cNvPr>
          <p:cNvSpPr/>
          <p:nvPr/>
        </p:nvSpPr>
        <p:spPr>
          <a:xfrm>
            <a:off x="0" y="671215"/>
            <a:ext cx="9144000" cy="4030959"/>
          </a:xfrm>
          <a:custGeom>
            <a:avLst/>
            <a:gdLst/>
            <a:ahLst/>
            <a:cxnLst/>
            <a:rect l="l" t="t" r="r" b="b"/>
            <a:pathLst>
              <a:path w="13818847" h="7972425">
                <a:moveTo>
                  <a:pt x="0" y="0"/>
                </a:moveTo>
                <a:lnTo>
                  <a:pt x="13818847" y="0"/>
                </a:lnTo>
                <a:lnTo>
                  <a:pt x="13818847" y="7972425"/>
                </a:lnTo>
                <a:lnTo>
                  <a:pt x="0" y="79724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5" t="-7889" b="-7889"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652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DE2C4-3A2E-74B9-605D-2AD6918D0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465652C-DE6C-6719-7216-1AAB3748CBFE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F8D105F2-CFFE-5056-0765-7BDB90BAFA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BF9661-DA61-898C-6B6C-DEA9BFDB8847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6862CB-780A-1ECB-C663-792EAD19DDD5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54FF98-6B33-8EB6-F746-E723BE807450}"/>
              </a:ext>
            </a:extLst>
          </p:cNvPr>
          <p:cNvSpPr txBox="1"/>
          <p:nvPr/>
        </p:nvSpPr>
        <p:spPr>
          <a:xfrm>
            <a:off x="381000" y="209550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Web Development</a:t>
            </a:r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A5182328-E004-612D-16DF-31335794B0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C3B414BD-5B1B-A6B4-438B-343CFDF37E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4913563"/>
              </p:ext>
            </p:extLst>
          </p:nvPr>
        </p:nvGraphicFramePr>
        <p:xfrm>
          <a:off x="0" y="666750"/>
          <a:ext cx="9144000" cy="40664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3730">
                  <a:extLst>
                    <a:ext uri="{9D8B030D-6E8A-4147-A177-3AD203B41FA5}">
                      <a16:colId xmlns:a16="http://schemas.microsoft.com/office/drawing/2014/main" val="2451609094"/>
                    </a:ext>
                  </a:extLst>
                </a:gridCol>
                <a:gridCol w="7380270">
                  <a:extLst>
                    <a:ext uri="{9D8B030D-6E8A-4147-A177-3AD203B41FA5}">
                      <a16:colId xmlns:a16="http://schemas.microsoft.com/office/drawing/2014/main" val="1702863325"/>
                    </a:ext>
                  </a:extLst>
                </a:gridCol>
              </a:tblGrid>
              <a:tr h="369674">
                <a:tc>
                  <a:txBody>
                    <a:bodyPr/>
                    <a:lstStyle/>
                    <a:p>
                      <a:r>
                        <a:rPr lang="en-IN" dirty="0"/>
                        <a:t>HTML </a:t>
                      </a:r>
                    </a:p>
                  </a:txBody>
                  <a:tcPr marL="76738" marR="76738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Content ( </a:t>
                      </a:r>
                      <a:r>
                        <a:rPr lang="en-IN" dirty="0" err="1"/>
                        <a:t>paragraph,image,table,list,audio,form,video</a:t>
                      </a:r>
                      <a:r>
                        <a:rPr lang="en-IN" dirty="0"/>
                        <a:t>)</a:t>
                      </a:r>
                    </a:p>
                  </a:txBody>
                  <a:tcPr marL="76738" marR="76738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679622"/>
                  </a:ext>
                </a:extLst>
              </a:tr>
              <a:tr h="369674">
                <a:tc>
                  <a:txBody>
                    <a:bodyPr/>
                    <a:lstStyle/>
                    <a:p>
                      <a:r>
                        <a:rPr lang="en-US" dirty="0"/>
                        <a:t>CSS</a:t>
                      </a:r>
                      <a:endParaRPr lang="en-IN" dirty="0"/>
                    </a:p>
                  </a:txBody>
                  <a:tcPr marL="76738" marR="76738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Styling (</a:t>
                      </a:r>
                      <a:r>
                        <a:rPr lang="en-US" dirty="0" err="1"/>
                        <a:t>color,border,width,height,background-color,positioning</a:t>
                      </a:r>
                      <a:r>
                        <a:rPr lang="en-US" dirty="0"/>
                        <a:t>)</a:t>
                      </a:r>
                      <a:endParaRPr lang="en-IN" dirty="0"/>
                    </a:p>
                  </a:txBody>
                  <a:tcPr marL="76738" marR="76738"/>
                </a:tc>
                <a:extLst>
                  <a:ext uri="{0D108BD9-81ED-4DB2-BD59-A6C34878D82A}">
                    <a16:rowId xmlns:a16="http://schemas.microsoft.com/office/drawing/2014/main" val="3010384335"/>
                  </a:ext>
                </a:extLst>
              </a:tr>
              <a:tr h="369674">
                <a:tc>
                  <a:txBody>
                    <a:bodyPr/>
                    <a:lstStyle/>
                    <a:p>
                      <a:r>
                        <a:rPr lang="en-IN" dirty="0"/>
                        <a:t>Bootstrap</a:t>
                      </a:r>
                    </a:p>
                  </a:txBody>
                  <a:tcPr marL="76738" marR="76738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predefined </a:t>
                      </a:r>
                      <a:r>
                        <a:rPr lang="en-IN" dirty="0" err="1"/>
                        <a:t>css</a:t>
                      </a:r>
                      <a:r>
                        <a:rPr lang="en-IN" dirty="0"/>
                        <a:t> , Responsiveness</a:t>
                      </a:r>
                    </a:p>
                  </a:txBody>
                  <a:tcPr marL="76738" marR="76738"/>
                </a:tc>
                <a:extLst>
                  <a:ext uri="{0D108BD9-81ED-4DB2-BD59-A6C34878D82A}">
                    <a16:rowId xmlns:a16="http://schemas.microsoft.com/office/drawing/2014/main" val="1550543468"/>
                  </a:ext>
                </a:extLst>
              </a:tr>
              <a:tr h="369674">
                <a:tc>
                  <a:txBody>
                    <a:bodyPr/>
                    <a:lstStyle/>
                    <a:p>
                      <a:r>
                        <a:rPr lang="en-IN" dirty="0" err="1"/>
                        <a:t>Javascript</a:t>
                      </a:r>
                      <a:endParaRPr lang="en-IN" dirty="0"/>
                    </a:p>
                  </a:txBody>
                  <a:tcPr marL="76738" marR="76738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Behaviour</a:t>
                      </a:r>
                    </a:p>
                  </a:txBody>
                  <a:tcPr marL="76738" marR="76738"/>
                </a:tc>
                <a:extLst>
                  <a:ext uri="{0D108BD9-81ED-4DB2-BD59-A6C34878D82A}">
                    <a16:rowId xmlns:a16="http://schemas.microsoft.com/office/drawing/2014/main" val="4215249833"/>
                  </a:ext>
                </a:extLst>
              </a:tr>
              <a:tr h="2587715">
                <a:tc>
                  <a:txBody>
                    <a:bodyPr/>
                    <a:lstStyle/>
                    <a:p>
                      <a:r>
                        <a:rPr lang="en-IN" dirty="0"/>
                        <a:t>Angular/React/Vue</a:t>
                      </a:r>
                    </a:p>
                  </a:txBody>
                  <a:tcPr marL="76738" marR="76738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JavaScript Frameworks	</a:t>
                      </a:r>
                    </a:p>
                    <a:p>
                      <a:r>
                        <a:rPr lang="en-US" dirty="0"/>
                        <a:t>RAD - Rapid Application Development</a:t>
                      </a:r>
                    </a:p>
                    <a:p>
                      <a:r>
                        <a:rPr lang="en-US" dirty="0"/>
                        <a:t>CLI - Command Line Interface</a:t>
                      </a:r>
                    </a:p>
                    <a:p>
                      <a:r>
                        <a:rPr lang="en-US" dirty="0"/>
                        <a:t>A Template System</a:t>
                      </a:r>
                    </a:p>
                    <a:p>
                      <a:r>
                        <a:rPr lang="en-US" dirty="0"/>
                        <a:t>Reusable components</a:t>
                      </a:r>
                    </a:p>
                    <a:p>
                      <a:r>
                        <a:rPr lang="en-US" dirty="0"/>
                        <a:t>Synchronization of state and view</a:t>
                      </a:r>
                    </a:p>
                    <a:p>
                      <a:r>
                        <a:rPr lang="en-US" dirty="0"/>
                        <a:t>Routing</a:t>
                      </a:r>
                    </a:p>
                    <a:p>
                      <a:r>
                        <a:rPr lang="en-US" dirty="0"/>
                        <a:t>Form Validation</a:t>
                      </a:r>
                    </a:p>
                    <a:p>
                      <a:r>
                        <a:rPr lang="en-US" dirty="0"/>
                        <a:t>Better AJAX</a:t>
                      </a:r>
                      <a:endParaRPr lang="en-IN" dirty="0"/>
                    </a:p>
                  </a:txBody>
                  <a:tcPr marL="76738" marR="76738"/>
                </a:tc>
                <a:extLst>
                  <a:ext uri="{0D108BD9-81ED-4DB2-BD59-A6C34878D82A}">
                    <a16:rowId xmlns:a16="http://schemas.microsoft.com/office/drawing/2014/main" val="1207942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1008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78826-0666-18A4-433D-94F57804D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29DC054-002D-5EC5-4A17-F69B00F5985D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737C90F2-A3D9-A1AA-26DF-5AB575FB61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66EB5F-627C-D1D6-0513-BA375131F525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28CEA6-AD76-4208-2B8A-BE61A824F268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41DB60-BEA6-5768-A652-95991617CDF8}"/>
              </a:ext>
            </a:extLst>
          </p:cNvPr>
          <p:cNvSpPr txBox="1"/>
          <p:nvPr/>
        </p:nvSpPr>
        <p:spPr>
          <a:xfrm>
            <a:off x="381000" y="209550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Angular ?</a:t>
            </a:r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52358060-816C-4A5D-6F02-7DA70FE76C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711966-E089-A660-20B4-110A61BD6817}"/>
              </a:ext>
            </a:extLst>
          </p:cNvPr>
          <p:cNvSpPr txBox="1"/>
          <p:nvPr/>
        </p:nvSpPr>
        <p:spPr>
          <a:xfrm>
            <a:off x="114300" y="800127"/>
            <a:ext cx="9144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Angular is a </a:t>
            </a:r>
            <a:r>
              <a:rPr lang="en-US" b="1" dirty="0"/>
              <a:t>TypeScript-based frontend framework by Google</a:t>
            </a:r>
            <a:r>
              <a:rPr lang="en-US" dirty="0"/>
              <a:t> for building </a:t>
            </a:r>
            <a:r>
              <a:rPr lang="en-US" b="1" dirty="0"/>
              <a:t>scalable, enterprise-level web applications</a:t>
            </a:r>
            <a:r>
              <a:rPr lang="en-US" dirty="0"/>
              <a:t>.</a:t>
            </a:r>
          </a:p>
          <a:p>
            <a:endParaRPr lang="en-US" dirty="0"/>
          </a:p>
          <a:p>
            <a:br>
              <a:rPr lang="en-US" b="1" dirty="0"/>
            </a:br>
            <a:br>
              <a:rPr lang="en-US" b="1" dirty="0"/>
            </a:br>
            <a:r>
              <a:rPr lang="en-US" b="1" dirty="0"/>
              <a:t>Why Angular?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Enterprise-ready framework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Backed by Google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performance SPA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Built-in routing, forms &amp; HTTP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TypeScript based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Secure &amp; scalable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Strong job demand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0448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BFA63-D78A-48E3-1B52-94DDD6A74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ECCA32B-C7AC-3C3F-8881-7F2F75034782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871C323C-0E7C-2951-D9A8-E54344E5A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6BC25D-F294-3218-D299-1A152D852842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07BAB7-DBBA-B48D-67BF-960BA3EF9E7C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CCB503-6978-C8D9-FC31-FD4AD6718F78}"/>
              </a:ext>
            </a:extLst>
          </p:cNvPr>
          <p:cNvSpPr txBox="1"/>
          <p:nvPr/>
        </p:nvSpPr>
        <p:spPr>
          <a:xfrm>
            <a:off x="381000" y="209550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Web Development</a:t>
            </a:r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DC6D7784-55E0-4601-FBC7-0DFDFC55A4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06B99B-BF6D-9CBD-C6E6-75D23820F994}"/>
              </a:ext>
            </a:extLst>
          </p:cNvPr>
          <p:cNvSpPr txBox="1"/>
          <p:nvPr/>
        </p:nvSpPr>
        <p:spPr>
          <a:xfrm>
            <a:off x="381000" y="798513"/>
            <a:ext cx="8763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/>
              <a:t>React						Angular</a:t>
            </a:r>
          </a:p>
          <a:p>
            <a:r>
              <a:rPr lang="en-IN" dirty="0"/>
              <a:t>===========================================================</a:t>
            </a:r>
          </a:p>
          <a:p>
            <a:r>
              <a:rPr lang="en-IN" dirty="0"/>
              <a:t>1. Library-2013					 1. Framework-2009</a:t>
            </a:r>
          </a:p>
          <a:p>
            <a:r>
              <a:rPr lang="en-IN" dirty="0"/>
              <a:t>2. Light-weight					 2. Heavy</a:t>
            </a:r>
          </a:p>
          <a:p>
            <a:r>
              <a:rPr lang="en-IN" dirty="0"/>
              <a:t>3. JSX + </a:t>
            </a:r>
            <a:r>
              <a:rPr lang="en-IN" dirty="0" err="1"/>
              <a:t>Javascript</a:t>
            </a:r>
            <a:r>
              <a:rPr lang="en-IN" dirty="0"/>
              <a:t>				 3. HTML + Typescript</a:t>
            </a:r>
          </a:p>
          <a:p>
            <a:r>
              <a:rPr lang="en-IN" dirty="0"/>
              <a:t>4. Uni-Directional				 	4. two-way</a:t>
            </a:r>
          </a:p>
          <a:p>
            <a:r>
              <a:rPr lang="en-IN" dirty="0"/>
              <a:t>5. Virtual DOM					 5. Regular DOM</a:t>
            </a:r>
          </a:p>
          <a:p>
            <a:r>
              <a:rPr lang="en-IN" dirty="0"/>
              <a:t>6. Axios 				 		 6. </a:t>
            </a:r>
            <a:r>
              <a:rPr lang="en-IN" dirty="0" err="1"/>
              <a:t>HttpClientModule</a:t>
            </a:r>
            <a:r>
              <a:rPr lang="en-IN" dirty="0"/>
              <a:t> </a:t>
            </a:r>
          </a:p>
          <a:p>
            <a:r>
              <a:rPr lang="en-IN" dirty="0"/>
              <a:t>7. No 		 				7. Dependency Injection</a:t>
            </a:r>
          </a:p>
          <a:p>
            <a:r>
              <a:rPr lang="en-IN" dirty="0"/>
              <a:t>8. No						8. Form Validation</a:t>
            </a:r>
          </a:p>
          <a:p>
            <a:r>
              <a:rPr lang="en-IN" dirty="0"/>
              <a:t>9. extra libraries needed		              		9. No additional libraries</a:t>
            </a:r>
          </a:p>
          <a:p>
            <a:r>
              <a:rPr lang="en-IN" dirty="0"/>
              <a:t>10. UI heavy					 10. Functionality heavy</a:t>
            </a:r>
          </a:p>
        </p:txBody>
      </p:sp>
    </p:spTree>
    <p:extLst>
      <p:ext uri="{BB962C8B-B14F-4D97-AF65-F5344CB8AC3E}">
        <p14:creationId xmlns:p14="http://schemas.microsoft.com/office/powerpoint/2010/main" val="1068609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04F63-CCB6-7C3A-E168-3881F91CE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CB8035A-1DF9-AC44-374F-AE87656C5CAB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319E0F35-E64F-8DBC-7CC2-133CE2FA6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F8C18F-8A3D-D467-0E8F-E6A2A0E537CF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D66BD9-FE3B-A31A-19CC-5D53308FB77C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F1FA2D-B57C-1A6F-1174-CB117BB75370}"/>
              </a:ext>
            </a:extLst>
          </p:cNvPr>
          <p:cNvSpPr txBox="1"/>
          <p:nvPr/>
        </p:nvSpPr>
        <p:spPr>
          <a:xfrm>
            <a:off x="381000" y="209550"/>
            <a:ext cx="411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Commonly Asked Questions</a:t>
            </a:r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466C8256-D6F5-9FE7-0B6C-1E27455792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03F4C7-C842-CECE-A9C2-F4B29F75A29F}"/>
              </a:ext>
            </a:extLst>
          </p:cNvPr>
          <p:cNvSpPr txBox="1"/>
          <p:nvPr/>
        </p:nvSpPr>
        <p:spPr>
          <a:xfrm>
            <a:off x="457200" y="671216"/>
            <a:ext cx="7848600" cy="3739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Course Duration : 2 months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Class Time : </a:t>
            </a:r>
            <a:r>
              <a:rPr lang="en-US" sz="1600" dirty="0"/>
              <a:t>1 hour daily 07.30am to 08.45am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Working days: Monday to Saturday (Sunday-off)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Pre-Requisite – HTML , CSS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Mode of training – online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How Many Demo Sessions – 3-4 Sessions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Free For </a:t>
            </a:r>
            <a:r>
              <a:rPr lang="en-IN" sz="1600" dirty="0" err="1"/>
              <a:t>Fullstack</a:t>
            </a:r>
            <a:r>
              <a:rPr lang="en-IN" sz="1600" dirty="0"/>
              <a:t> Students - </a:t>
            </a:r>
            <a:r>
              <a:rPr lang="en-IN" sz="1600" b="1" dirty="0"/>
              <a:t>No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Fee - </a:t>
            </a:r>
            <a:r>
              <a:rPr lang="en-IN" sz="1600" dirty="0" err="1"/>
              <a:t>NareshIT</a:t>
            </a:r>
            <a:r>
              <a:rPr lang="en-IN" sz="1600" dirty="0"/>
              <a:t> Admin/management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Course Completion Certificate - Yes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Mute: Allowed to interact anytime during the session once actual class starts</a:t>
            </a:r>
          </a:p>
        </p:txBody>
      </p:sp>
    </p:spTree>
    <p:extLst>
      <p:ext uri="{BB962C8B-B14F-4D97-AF65-F5344CB8AC3E}">
        <p14:creationId xmlns:p14="http://schemas.microsoft.com/office/powerpoint/2010/main" val="1364641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3F51A-2973-C0D9-AB7D-010F00D3B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CD87B95-5D50-BBF9-EF29-14E22D5C135B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DF9512E2-4E22-F84B-808F-0F5276793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98B14E-CA2C-4003-6E1D-8F22B801C94D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79C41C-6D5C-537B-9B56-B02802B4A635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5FE92F8B-02B8-CAC4-7A77-6ACB995D1D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 descr="Closing slide">
            <a:extLst>
              <a:ext uri="{FF2B5EF4-FFF2-40B4-BE49-F238E27FC236}">
                <a16:creationId xmlns:a16="http://schemas.microsoft.com/office/drawing/2014/main" id="{1E244320-003D-5281-407F-A2DF23342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712788"/>
            <a:ext cx="7924800" cy="4022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9149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634</Words>
  <Application>Microsoft Office PowerPoint</Application>
  <PresentationFormat>On-screen Show (16:9)</PresentationFormat>
  <Paragraphs>119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Arvo</vt:lpstr>
      <vt:lpstr>Calibri</vt:lpstr>
      <vt:lpstr>Roboto Condensed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nareshit</dc:creator>
  <cp:lastModifiedBy>Sanjay Kumar Samantra</cp:lastModifiedBy>
  <cp:revision>29</cp:revision>
  <dcterms:created xsi:type="dcterms:W3CDTF">2006-08-16T00:00:00Z</dcterms:created>
  <dcterms:modified xsi:type="dcterms:W3CDTF">2025-12-02T15:01:23Z</dcterms:modified>
</cp:coreProperties>
</file>